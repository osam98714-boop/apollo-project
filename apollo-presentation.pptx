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3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1">
                <a:solidFill>
                  <a:srgbClr val="32BEFF"/>
                </a:solidFill>
                <a:latin typeface="Arial"/>
              </a:defRPr>
            </a:pPr>
            <a:r>
              <a:t>APOLLO PROGRAM  •  01/10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658368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3000" b="1">
                <a:solidFill>
                  <a:srgbClr val="F5F8FF"/>
                </a:solidFill>
                <a:latin typeface="Arial"/>
              </a:defRPr>
            </a:pPr>
            <a:r>
              <a:t>برنامج أبولو الأمريكي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4008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900" b="1">
                <a:solidFill>
                  <a:srgbClr val="FFBE41"/>
                </a:solidFill>
                <a:latin typeface="Arial"/>
              </a:defRPr>
            </a:pPr>
            <a:r>
              <a:t>رحلة الإنسان إلى سطح القمر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126480" cy="2057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2000" b="0">
                <a:solidFill>
                  <a:srgbClr val="F5F8FF"/>
                </a:solidFill>
                <a:latin typeface="Arial"/>
              </a:defRPr>
            </a:pPr>
            <a:r>
              <a:t>بدأت القصة بطموح علمي كبير، وانتهت بواحدة من أهم لحظات تاريخ الاستكشاف البشري.</a:t>
            </a:r>
          </a:p>
        </p:txBody>
      </p:sp>
      <p:pic>
        <p:nvPicPr>
          <p:cNvPr id="7" name="Picture 6" descr="lau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051560"/>
            <a:ext cx="43434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035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إعداد الطالب: سعود سيد عظيم سيد نور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03504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ثالث ثانوي / 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3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1">
                <a:solidFill>
                  <a:srgbClr val="32BEFF"/>
                </a:solidFill>
                <a:latin typeface="Arial"/>
              </a:defRPr>
            </a:pPr>
            <a:r>
              <a:t>APOLLO PROGRAM  •  02/10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658368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3000" b="1">
                <a:solidFill>
                  <a:srgbClr val="F5F8FF"/>
                </a:solidFill>
                <a:latin typeface="Arial"/>
              </a:defRPr>
            </a:pPr>
            <a:r>
              <a:t>ما هو برنامج أبولو؟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4008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900" b="1">
                <a:solidFill>
                  <a:srgbClr val="FFBE41"/>
                </a:solidFill>
                <a:latin typeface="Arial"/>
              </a:defRPr>
            </a:pPr>
            <a:r>
              <a:t>برنامج فضائي تابع لوكالة ناسا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126480" cy="2057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2000" b="0">
                <a:solidFill>
                  <a:srgbClr val="F5F8FF"/>
                </a:solidFill>
                <a:latin typeface="Arial"/>
              </a:defRPr>
            </a:pPr>
            <a:r>
              <a:t>أُطلق البرنامج في ستينيات القرن العشرين بهدف إرسال رواد فضاء إلى القمر وإعادتهم سالمين إلى الأرض.</a:t>
            </a:r>
          </a:p>
        </p:txBody>
      </p:sp>
      <p:pic>
        <p:nvPicPr>
          <p:cNvPr id="7" name="Picture 6" descr="ea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051560"/>
            <a:ext cx="43434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035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إعداد الطالب: سعود سيد عظيم سيد نور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03504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ثالث ثانوي / 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3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1">
                <a:solidFill>
                  <a:srgbClr val="32BEFF"/>
                </a:solidFill>
                <a:latin typeface="Arial"/>
              </a:defRPr>
            </a:pPr>
            <a:r>
              <a:t>APOLLO PROGRAM  •  03/10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658368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3000" b="1">
                <a:solidFill>
                  <a:srgbClr val="F5F8FF"/>
                </a:solidFill>
                <a:latin typeface="Arial"/>
              </a:defRPr>
            </a:pPr>
            <a:r>
              <a:t>لماذا بدأ البرنامج؟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4008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900" b="1">
                <a:solidFill>
                  <a:srgbClr val="FFBE41"/>
                </a:solidFill>
                <a:latin typeface="Arial"/>
              </a:defRPr>
            </a:pPr>
            <a:r>
              <a:t>سباق الفضاء والتقدم العلمي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126480" cy="2057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2000" b="0">
                <a:solidFill>
                  <a:srgbClr val="F5F8FF"/>
                </a:solidFill>
                <a:latin typeface="Arial"/>
              </a:defRPr>
            </a:pPr>
            <a:r>
              <a:t>أعلنت الولايات المتحدة هدف الوصول إلى القمر، فعمل العلماء والمهندسون على تطوير الصواريخ والمركبات وأنظمة السلامة.</a:t>
            </a:r>
          </a:p>
        </p:txBody>
      </p:sp>
      <p:pic>
        <p:nvPicPr>
          <p:cNvPr id="7" name="Picture 6" descr="lau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051560"/>
            <a:ext cx="43434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035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إعداد الطالب: سعود سيد عظيم سيد نور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03504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ثالث ثانوي / 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3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1">
                <a:solidFill>
                  <a:srgbClr val="32BEFF"/>
                </a:solidFill>
                <a:latin typeface="Arial"/>
              </a:defRPr>
            </a:pPr>
            <a:r>
              <a:t>APOLLO PROGRAM  •  04/10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658368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3000" b="1">
                <a:solidFill>
                  <a:srgbClr val="F5F8FF"/>
                </a:solidFill>
                <a:latin typeface="Arial"/>
              </a:defRPr>
            </a:pPr>
            <a:r>
              <a:t>صاروخ ساتورن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4008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900" b="1">
                <a:solidFill>
                  <a:srgbClr val="FFBE41"/>
                </a:solidFill>
                <a:latin typeface="Arial"/>
              </a:defRPr>
            </a:pPr>
            <a:r>
              <a:t>قوة الدفع للوصول إلى القمر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126480" cy="2057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2000" b="0">
                <a:solidFill>
                  <a:srgbClr val="F5F8FF"/>
                </a:solidFill>
                <a:latin typeface="Arial"/>
              </a:defRPr>
            </a:pPr>
            <a:r>
              <a:t>كان ساتورن 5 صاروخًا ضخمًا حمل مركبات أبولو إلى الفضاء، ويُعد من أقوى الصواريخ التي استخدمت في الرحلات المأهولة.</a:t>
            </a:r>
          </a:p>
        </p:txBody>
      </p:sp>
      <p:pic>
        <p:nvPicPr>
          <p:cNvPr id="7" name="Picture 6" descr="lau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051560"/>
            <a:ext cx="43434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035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إعداد الطالب: سعود سيد عظيم سيد نور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03504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ثالث ثانوي / 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3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1">
                <a:solidFill>
                  <a:srgbClr val="32BEFF"/>
                </a:solidFill>
                <a:latin typeface="Arial"/>
              </a:defRPr>
            </a:pPr>
            <a:r>
              <a:t>APOLLO PROGRAM  •  05/10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658368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3000" b="1">
                <a:solidFill>
                  <a:srgbClr val="F5F8FF"/>
                </a:solidFill>
                <a:latin typeface="Arial"/>
              </a:defRPr>
            </a:pPr>
            <a:r>
              <a:t>مركبة أبولو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4008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900" b="1">
                <a:solidFill>
                  <a:srgbClr val="FFBE41"/>
                </a:solidFill>
                <a:latin typeface="Arial"/>
              </a:defRPr>
            </a:pPr>
            <a:r>
              <a:t>ثلاثة أجزاء تعمل معًا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126480" cy="2057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2000" b="0">
                <a:solidFill>
                  <a:srgbClr val="F5F8FF"/>
                </a:solidFill>
                <a:latin typeface="Arial"/>
              </a:defRPr>
            </a:pPr>
            <a:r>
              <a:t>تكوّنت المركبة من وحدة القيادة والخدمة، والوحدة القمرية التي هبطت على القمر، مع أنظمة اتصال ودعم للحياة.</a:t>
            </a:r>
          </a:p>
        </p:txBody>
      </p:sp>
      <p:pic>
        <p:nvPicPr>
          <p:cNvPr id="7" name="Picture 6" descr="ea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051560"/>
            <a:ext cx="43434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035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إعداد الطالب: سعود سيد عظيم سيد نور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03504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ثالث ثانوي / 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3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1">
                <a:solidFill>
                  <a:srgbClr val="32BEFF"/>
                </a:solidFill>
                <a:latin typeface="Arial"/>
              </a:defRPr>
            </a:pPr>
            <a:r>
              <a:t>APOLLO PROGRAM  •  06/10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658368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3000" b="1">
                <a:solidFill>
                  <a:srgbClr val="F5F8FF"/>
                </a:solidFill>
                <a:latin typeface="Arial"/>
              </a:defRPr>
            </a:pPr>
            <a:r>
              <a:t>أبولو 11: المهمة التاريخية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4008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900" b="1">
                <a:solidFill>
                  <a:srgbClr val="FFBE41"/>
                </a:solidFill>
                <a:latin typeface="Arial"/>
              </a:defRPr>
            </a:pPr>
            <a:r>
              <a:t>16–24 يوليو 1969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126480" cy="2057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2000" b="0">
                <a:solidFill>
                  <a:srgbClr val="F5F8FF"/>
                </a:solidFill>
                <a:latin typeface="Arial"/>
              </a:defRPr>
            </a:pPr>
            <a:r>
              <a:t>ضم الطاقم نيل أرمسترونغ وباز ألدرن ومايكل كولينز. هبطت الوحدة القمرية في 20 يوليو 1969.</a:t>
            </a:r>
          </a:p>
        </p:txBody>
      </p:sp>
      <p:pic>
        <p:nvPicPr>
          <p:cNvPr id="7" name="Picture 6" descr="moonw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051560"/>
            <a:ext cx="43434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035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إعداد الطالب: سعود سيد عظيم سيد نور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03504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ثالث ثانوي / 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3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1">
                <a:solidFill>
                  <a:srgbClr val="32BEFF"/>
                </a:solidFill>
                <a:latin typeface="Arial"/>
              </a:defRPr>
            </a:pPr>
            <a:r>
              <a:t>APOLLO PROGRAM  •  07/10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658368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3000" b="1">
                <a:solidFill>
                  <a:srgbClr val="F5F8FF"/>
                </a:solidFill>
                <a:latin typeface="Arial"/>
              </a:defRPr>
            </a:pPr>
            <a:r>
              <a:t>أول خطوات على القمر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4008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900" b="1">
                <a:solidFill>
                  <a:srgbClr val="FFBE41"/>
                </a:solidFill>
                <a:latin typeface="Arial"/>
              </a:defRPr>
            </a:pPr>
            <a:r>
              <a:t>إنجاز علمي وإنساني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126480" cy="2057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2000" b="0">
                <a:solidFill>
                  <a:srgbClr val="F5F8FF"/>
                </a:solidFill>
                <a:latin typeface="Arial"/>
              </a:defRPr>
            </a:pPr>
            <a:r>
              <a:t>أصبح نيل أرمسترونغ أول إنسان يمشي على سطح القمر، ثم تبعه باز ألدرن. جمع الرائدان عينات وأجريا تجارب.</a:t>
            </a:r>
          </a:p>
        </p:txBody>
      </p:sp>
      <p:pic>
        <p:nvPicPr>
          <p:cNvPr id="7" name="Picture 6" descr="footpr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051560"/>
            <a:ext cx="43434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035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إعداد الطالب: سعود سيد عظيم سيد نور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03504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ثالث ثانوي / 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3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1">
                <a:solidFill>
                  <a:srgbClr val="32BEFF"/>
                </a:solidFill>
                <a:latin typeface="Arial"/>
              </a:defRPr>
            </a:pPr>
            <a:r>
              <a:t>APOLLO PROGRAM  •  08/10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658368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3000" b="1">
                <a:solidFill>
                  <a:srgbClr val="F5F8FF"/>
                </a:solidFill>
                <a:latin typeface="Arial"/>
              </a:defRPr>
            </a:pPr>
            <a:r>
              <a:t>أبولو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4008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900" b="1">
                <a:solidFill>
                  <a:srgbClr val="FFBE41"/>
                </a:solidFill>
                <a:latin typeface="Arial"/>
              </a:defRPr>
            </a:pPr>
            <a:r>
              <a:t>مشكلة تحولت إلى اختبار للإنقاذ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126480" cy="2057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2000" b="0">
                <a:solidFill>
                  <a:srgbClr val="F5F8FF"/>
                </a:solidFill>
                <a:latin typeface="Arial"/>
              </a:defRPr>
            </a:pPr>
            <a:r>
              <a:t>بعد عطل خطير في الطريق إلى القمر، تعاون الطاقم ومركز التحكم لإعادة الرواد الثلاثة إلى الأرض بأمان.</a:t>
            </a:r>
          </a:p>
        </p:txBody>
      </p:sp>
      <p:pic>
        <p:nvPicPr>
          <p:cNvPr id="7" name="Picture 6" descr="ea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051560"/>
            <a:ext cx="43434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035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إعداد الطالب: سعود سيد عظيم سيد نور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03504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ثالث ثانوي / 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3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1">
                <a:solidFill>
                  <a:srgbClr val="32BEFF"/>
                </a:solidFill>
                <a:latin typeface="Arial"/>
              </a:defRPr>
            </a:pPr>
            <a:r>
              <a:t>APOLLO PROGRAM  •  09/10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658368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3000" b="1">
                <a:solidFill>
                  <a:srgbClr val="F5F8FF"/>
                </a:solidFill>
                <a:latin typeface="Arial"/>
              </a:defRPr>
            </a:pPr>
            <a:r>
              <a:t>ماذا استفاد العالم؟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4008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900" b="1">
                <a:solidFill>
                  <a:srgbClr val="FFBE41"/>
                </a:solidFill>
                <a:latin typeface="Arial"/>
              </a:defRPr>
            </a:pPr>
            <a:r>
              <a:t>تقنية ومعرفة وخبرة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126480" cy="2057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2000" b="0">
                <a:solidFill>
                  <a:srgbClr val="F5F8FF"/>
                </a:solidFill>
                <a:latin typeface="Arial"/>
              </a:defRPr>
            </a:pPr>
            <a:r>
              <a:t>ساعد البرنامج على تطوير أنظمة الحوسبة والاتصالات والمواد وطرق إدارة المخاطر، ووسّع معرفتنا بالقمر.</a:t>
            </a:r>
          </a:p>
        </p:txBody>
      </p:sp>
      <p:pic>
        <p:nvPicPr>
          <p:cNvPr id="7" name="Picture 6" descr="mo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051560"/>
            <a:ext cx="43434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035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إعداد الطالب: سعود سيد عظيم سيد نور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03504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ثالث ثانوي / 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32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4864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1">
                <a:solidFill>
                  <a:srgbClr val="32BEFF"/>
                </a:solidFill>
                <a:latin typeface="Arial"/>
              </a:defRPr>
            </a:pPr>
            <a:r>
              <a:t>APOLLO PROGRAM  •  10/10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6583680" cy="9601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3000" b="1">
                <a:solidFill>
                  <a:srgbClr val="F5F8FF"/>
                </a:solidFill>
                <a:latin typeface="Arial"/>
              </a:defRPr>
            </a:pPr>
            <a:r>
              <a:t>الخاتمة والمراجع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40080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900" b="1">
                <a:solidFill>
                  <a:srgbClr val="FFBE41"/>
                </a:solidFill>
                <a:latin typeface="Arial"/>
              </a:defRPr>
            </a:pPr>
            <a:r>
              <a:t>من أبولو إلى مستقبل استكشاف الفضاء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126480" cy="2057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2000" b="0">
                <a:solidFill>
                  <a:srgbClr val="F5F8FF"/>
                </a:solidFill>
                <a:latin typeface="Arial"/>
              </a:defRPr>
            </a:pPr>
            <a:r>
              <a:t>يُظهر برنامج أبولو كيف يمكن للعلم والتعاون والتخطيط أن يحولوا هدفًا صعبًا إلى إنجاز تاريخي.</a:t>
            </a:r>
          </a:p>
        </p:txBody>
      </p:sp>
      <p:pic>
        <p:nvPicPr>
          <p:cNvPr id="7" name="Picture 6" descr="moonw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051560"/>
            <a:ext cx="43434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035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إعداد الطالب: سعود سيد عظيم سيد نور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03504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200" b="0">
                <a:solidFill>
                  <a:srgbClr val="AFC3DC"/>
                </a:solidFill>
                <a:latin typeface="Arial"/>
              </a:defRPr>
            </a:pPr>
            <a:r>
              <a:t>ثالث ثانوي / 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4241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>
              <a:defRPr sz="1300" b="1">
                <a:solidFill>
                  <a:srgbClr val="32BEFF"/>
                </a:solidFill>
                <a:latin typeface="Arial"/>
              </a:defRPr>
            </a:pPr>
            <a:r>
              <a:t>المراجع: NASA.gov • images.nasa.gov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